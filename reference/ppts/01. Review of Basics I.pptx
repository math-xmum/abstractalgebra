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4"/>
  </p:sldMasterIdLst>
  <p:sldIdLst>
    <p:sldId id="256" r:id="rId5"/>
    <p:sldId id="279" r:id="rId6"/>
    <p:sldId id="337" r:id="rId7"/>
    <p:sldId id="280" r:id="rId8"/>
    <p:sldId id="303" r:id="rId9"/>
    <p:sldId id="286" r:id="rId10"/>
    <p:sldId id="338" r:id="rId11"/>
    <p:sldId id="288" r:id="rId12"/>
    <p:sldId id="281" r:id="rId13"/>
    <p:sldId id="283" r:id="rId14"/>
    <p:sldId id="289" r:id="rId15"/>
    <p:sldId id="307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651" autoAdjust="0"/>
    <p:restoredTop sz="94660"/>
  </p:normalViewPr>
  <p:slideViewPr>
    <p:cSldViewPr snapToGrid="0">
      <p:cViewPr varScale="1">
        <p:scale>
          <a:sx n="86" d="100"/>
          <a:sy n="86" d="100"/>
        </p:scale>
        <p:origin x="715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32767" units="deg"/>
          <inkml:channel name="T" type="integer" max="2.14748E9" units="dev"/>
        </inkml:traceFormat>
        <inkml:channelProperties>
          <inkml:channelProperty channel="X" name="resolution" value="3854.94116" units="1/cm"/>
          <inkml:channelProperty channel="Y" name="resolution" value="5461.1665" units="1/cm"/>
          <inkml:channelProperty channel="F" name="resolution" value="91.01945" units="1/deg"/>
          <inkml:channelProperty channel="T" name="resolution" value="1" units="1/dev"/>
        </inkml:channelProperties>
      </inkml:inkSource>
      <inkml:timestamp xml:id="ts0" timeString="2021-09-21T04:59:56.59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16945 3883 4060 0,'0'0'588'0,"0"0"-408"15,0 0-180-15,0 0 0 0,0 0 124 16,0 0 252-16,0 0-52 0,0 0-204 16,0 0-120-16,-4-3-172 0,4 3-36 0,0 0 56 15,0 0 152-15,0 0 132 16,0 0-4-16,0 0-36 0,0 0 0 0,0 0 52 16,0 0 128-16,0 0 144 0,0 0 0 15,0 0-24-15,0 0-16 0,0 0-52 16,0 0-168-16,0 0-64 0,0 0-16 15,0 0 4-15,0 0-16 0,0 0 28 16,0 0-4-16,0 0-8 0,0 0-68 16,0 0 40-16,0 0 12 0,0 0 0 0,0 0-12 15,0 0-44-15,0 0 4 16,0 0 52-16,0 0-52 0,0 0 104 0,0 0 52 16,0 0 64-16,0 0-60 0,0 0-32 15,0 0-24-15,0 0 12 0,0 0-36 16,0 0-16-16,0 0 28 0,0 0 76 15,0 0-24-15,0 0-52 0,0 0-96 0,0 0-8 16,0 0-8-16,0 0 0 0,0 0 8 16,0 0 61-16,0 0-9 15,0 0 12-15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519C07-69CE-4BA8-BF3E-980FED58165D}" type="datetimeFigureOut">
              <a:rPr lang="en-US" smtClean="0"/>
              <a:t>4/3/2024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C995D-A8FF-4850-B67E-DD0384357B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21545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519C07-69CE-4BA8-BF3E-980FED58165D}" type="datetimeFigureOut">
              <a:rPr lang="en-US" smtClean="0"/>
              <a:t>4/3/2024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C995D-A8FF-4850-B67E-DD0384357B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73981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519C07-69CE-4BA8-BF3E-980FED58165D}" type="datetimeFigureOut">
              <a:rPr lang="en-US" smtClean="0"/>
              <a:t>4/3/2024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C995D-A8FF-4850-B67E-DD0384357B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09868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519C07-69CE-4BA8-BF3E-980FED58165D}" type="datetimeFigureOut">
              <a:rPr lang="en-US" smtClean="0"/>
              <a:t>4/3/2024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C995D-A8FF-4850-B67E-DD0384357B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12253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519C07-69CE-4BA8-BF3E-980FED58165D}" type="datetimeFigureOut">
              <a:rPr lang="en-US" smtClean="0"/>
              <a:t>4/3/2024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C995D-A8FF-4850-B67E-DD0384357B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55085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519C07-69CE-4BA8-BF3E-980FED58165D}" type="datetimeFigureOut">
              <a:rPr lang="en-US" smtClean="0"/>
              <a:t>4/3/2024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C995D-A8FF-4850-B67E-DD0384357B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73131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519C07-69CE-4BA8-BF3E-980FED58165D}" type="datetimeFigureOut">
              <a:rPr lang="en-US" smtClean="0"/>
              <a:t>4/3/2024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C995D-A8FF-4850-B67E-DD0384357B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34824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519C07-69CE-4BA8-BF3E-980FED58165D}" type="datetimeFigureOut">
              <a:rPr lang="en-US" smtClean="0"/>
              <a:t>4/3/2024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C995D-A8FF-4850-B67E-DD0384357B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7530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519C07-69CE-4BA8-BF3E-980FED58165D}" type="datetimeFigureOut">
              <a:rPr lang="en-US" smtClean="0"/>
              <a:t>4/3/2024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C995D-A8FF-4850-B67E-DD0384357B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07815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519C07-69CE-4BA8-BF3E-980FED58165D}" type="datetimeFigureOut">
              <a:rPr lang="en-US" smtClean="0"/>
              <a:t>4/3/2024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C995D-A8FF-4850-B67E-DD0384357B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6534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519C07-69CE-4BA8-BF3E-980FED58165D}" type="datetimeFigureOut">
              <a:rPr lang="en-US" smtClean="0"/>
              <a:t>4/3/2024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C995D-A8FF-4850-B67E-DD0384357B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02705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519C07-69CE-4BA8-BF3E-980FED58165D}" type="datetimeFigureOut">
              <a:rPr lang="en-US" smtClean="0"/>
              <a:t>4/3/2024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9C995D-A8FF-4850-B67E-DD0384357B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10531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72A5213-88C6-492C-A17D-36234411C88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MAT205: Abstract Algebra </a:t>
            </a:r>
            <a:r>
              <a:rPr lang="en-US" altLang="zh-CN" dirty="0"/>
              <a:t>II </a:t>
            </a:r>
            <a:endParaRPr lang="en-US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31D2F05-A869-4566-BF9E-990387902C5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z="4000" dirty="0"/>
              <a:t>1. Basics</a:t>
            </a:r>
          </a:p>
          <a:p>
            <a:endParaRPr lang="en-US" dirty="0"/>
          </a:p>
          <a:p>
            <a:r>
              <a:rPr lang="en-US" dirty="0"/>
              <a:t>Ma, Jia-Jun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墨迹 3">
                <a:extLst>
                  <a:ext uri="{FF2B5EF4-FFF2-40B4-BE49-F238E27FC236}">
                    <a16:creationId xmlns:a16="http://schemas.microsoft.com/office/drawing/2014/main" id="{2C0AAE31-3E2E-485E-BAD5-47026B452797}"/>
                  </a:ext>
                </a:extLst>
              </p14:cNvPr>
              <p14:cNvContentPartPr/>
              <p14:nvPr/>
            </p14:nvContentPartPr>
            <p14:xfrm>
              <a:off x="6098760" y="1396800"/>
              <a:ext cx="1800" cy="1440"/>
            </p14:xfrm>
          </p:contentPart>
        </mc:Choice>
        <mc:Fallback xmlns="">
          <p:pic>
            <p:nvPicPr>
              <p:cNvPr id="4" name="墨迹 3">
                <a:extLst>
                  <a:ext uri="{FF2B5EF4-FFF2-40B4-BE49-F238E27FC236}">
                    <a16:creationId xmlns:a16="http://schemas.microsoft.com/office/drawing/2014/main" id="{2C0AAE31-3E2E-485E-BAD5-47026B45279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089400" y="1387440"/>
                <a:ext cx="4551480" cy="1993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1547315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 descr="4: There is an element e in G such that for all x E G, &#10;e * x = x * e = x. identity element e for * &#10;4: Corresponding to each a E G, there is an element a' in G such that &#10;a = a = e. inverse a' of a ">
            <a:extLst>
              <a:ext uri="{FF2B5EF4-FFF2-40B4-BE49-F238E27FC236}">
                <a16:creationId xmlns:a16="http://schemas.microsoft.com/office/drawing/2014/main" id="{0EDA1B41-E343-43F4-B032-69AEC6612E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34407" y="3537753"/>
            <a:ext cx="7723185" cy="18998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4.1 Definition A group (G, is a set G , closed under a binary operation such that the following &#10;axioms are satisfied: &#10;all a, E G, we have &#10;associativity of * ">
            <a:extLst>
              <a:ext uri="{FF2B5EF4-FFF2-40B4-BE49-F238E27FC236}">
                <a16:creationId xmlns:a16="http://schemas.microsoft.com/office/drawing/2014/main" id="{7CAF82ED-A959-4F66-903B-747586066F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172" y="1497536"/>
            <a:ext cx="10473352" cy="18227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567838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6BC3CF-7DC5-4929-A971-5B592E867A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Examples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B3A566A-25B8-419D-B6DA-322F8988876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798991"/>
                <a:ext cx="10515600" cy="4351338"/>
              </a:xfrm>
            </p:spPr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{1}</m:t>
                    </m:r>
                  </m:oMath>
                </a14:m>
                <a:endParaRPr lang="en-US" b="0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ℤ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 +)</m:t>
                    </m:r>
                  </m:oMath>
                </a14:m>
                <a:endParaRPr lang="en-US" b="0" dirty="0"/>
              </a:p>
              <a:p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±1</m:t>
                        </m:r>
                      </m:e>
                    </m:d>
                  </m:oMath>
                </a14:m>
                <a:endParaRPr lang="en-US" b="0" dirty="0"/>
              </a:p>
              <a:p>
                <a14:m>
                  <m:oMath xmlns:m="http://schemas.openxmlformats.org/officeDocument/2006/math">
                    <m:f>
                      <m:fPr>
                        <m:type m:val="lin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ℤ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ℤ</m:t>
                    </m:r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b="0" dirty="0"/>
                  <a:t>permutation group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b="0" dirty="0"/>
                  <a:t> letters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GL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ℂ</m:t>
                        </m:r>
                      </m:e>
                    </m:d>
                  </m:oMath>
                </a14:m>
                <a:endParaRPr lang="en-US" b="0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𝑆𝐿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ℂ</m:t>
                        </m:r>
                      </m:e>
                    </m:d>
                  </m:oMath>
                </a14:m>
                <a:endParaRPr lang="en-MY" dirty="0"/>
              </a:p>
              <a:p>
                <a:endParaRPr lang="en-MY" dirty="0"/>
              </a:p>
              <a:p>
                <a:endParaRPr lang="en-MY" dirty="0"/>
              </a:p>
              <a:p>
                <a:endParaRPr lang="en-MY" dirty="0"/>
              </a:p>
              <a:p>
                <a:endParaRPr lang="en-MY" dirty="0"/>
              </a:p>
              <a:p>
                <a:endParaRPr lang="en-MY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B3A566A-25B8-419D-B6DA-322F8988876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798991"/>
                <a:ext cx="10515600" cy="4351338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MY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52389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6BC3CF-7DC5-4929-A971-5B592E867A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Non-Examples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B3A566A-25B8-419D-B6DA-322F8988876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ℤ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×</m:t>
                            </m:r>
                          </m:sup>
                        </m:s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 ∙</m:t>
                        </m:r>
                      </m:e>
                    </m:d>
                  </m:oMath>
                </a14:m>
                <a:endParaRPr lang="en-US" b="0" dirty="0"/>
              </a:p>
              <a:p>
                <a:endParaRPr lang="en-MY" dirty="0"/>
              </a:p>
              <a:p>
                <a:endParaRPr lang="en-MY" dirty="0"/>
              </a:p>
              <a:p>
                <a:endParaRPr lang="en-MY" dirty="0"/>
              </a:p>
              <a:p>
                <a:endParaRPr lang="en-MY" dirty="0"/>
              </a:p>
              <a:p>
                <a:endParaRPr lang="en-MY" dirty="0"/>
              </a:p>
              <a:p>
                <a:endParaRPr lang="en-MY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B3A566A-25B8-419D-B6DA-322F8988876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MY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21253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549BB4-0571-4AB6-9530-7AB7AA51F8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Subgroup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32E46325-4A83-4682-8967-D63431B0252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en-US" dirty="0"/>
                  <a:t>A nonempty subset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𝐻</m:t>
                    </m:r>
                  </m:oMath>
                </a14:m>
                <a:r>
                  <a:rPr lang="en-MY" dirty="0"/>
                  <a:t>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MY" dirty="0"/>
                  <a:t> is a subgroup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MY" dirty="0"/>
                  <a:t> if 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∀ 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𝐻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, 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𝐻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b="0" dirty="0"/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∀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𝐻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𝐻</m:t>
                    </m:r>
                  </m:oMath>
                </a14:m>
                <a:endParaRPr lang="en-MY" dirty="0"/>
              </a:p>
              <a:p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Equivalently,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𝐻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MY" dirty="0"/>
                  <a:t>iff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𝐻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𝐻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MY" dirty="0"/>
                  <a:t> 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E</a:t>
                </a:r>
                <a:r>
                  <a:rPr lang="en-MY" dirty="0"/>
                  <a:t>g. 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 2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ℤ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ℤ</m:t>
                    </m:r>
                  </m:oMath>
                </a14:m>
                <a:endParaRPr lang="en-US" b="0" i="0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   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SL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ℂ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GL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ℂ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en-MY" dirty="0"/>
                  <a:t> </a:t>
                </a:r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32E46325-4A83-4682-8967-D63431B0252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3081"/>
                </a:stretch>
              </a:blipFill>
            </p:spPr>
            <p:txBody>
              <a:bodyPr/>
              <a:lstStyle/>
              <a:p>
                <a:r>
                  <a:rPr lang="en-MY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122032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18547E52-A1FE-4090-8C76-3D6A94C87A55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altLang="zh-CN" dirty="0"/>
                  <a:t>Coset space</a:t>
                </a:r>
                <a:r>
                  <a:rPr lang="en-MY" altLang="zh-CN" dirty="0"/>
                  <a:t>:</a:t>
                </a:r>
                <a:r>
                  <a:rPr lang="zh-CN" altLang="en-US" dirty="0"/>
                  <a:t> </a:t>
                </a:r>
                <a:r>
                  <a:rPr lang="en-MY" altLang="zh-CN" dirty="0"/>
                  <a:t>Suppose</a:t>
                </a:r>
                <a:r>
                  <a:rPr lang="zh-CN" altLang="en-US" dirty="0"/>
                  <a:t> </a:t>
                </a:r>
                <a14:m>
                  <m:oMath xmlns:m="http://schemas.openxmlformats.org/officeDocument/2006/math">
                    <m:r>
                      <a:rPr lang="en-MY" altLang="zh-CN" b="0" i="1" smtClean="0">
                        <a:latin typeface="Cambria Math" panose="02040503050406030204" pitchFamily="18" charset="0"/>
                      </a:rPr>
                      <m:t>𝐻</m:t>
                    </m:r>
                    <m:r>
                      <a:rPr lang="en-MY" altLang="zh-CN" b="0" i="1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MY" altLang="zh-CN" b="0" i="1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endParaRPr lang="en-MY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18547E52-A1FE-4090-8C76-3D6A94C87A5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377"/>
                </a:stretch>
              </a:blipFill>
            </p:spPr>
            <p:txBody>
              <a:bodyPr/>
              <a:lstStyle/>
              <a:p>
                <a:r>
                  <a:rPr lang="en-M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B1CD955-06FA-43DD-B2F9-BD189C548A9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MY" dirty="0"/>
                  <a:t>The space of left </a:t>
                </a:r>
                <a:r>
                  <a:rPr lang="en-MY" dirty="0" err="1"/>
                  <a:t>cosets</a:t>
                </a:r>
                <a:r>
                  <a:rPr lang="en-MY" dirty="0"/>
                  <a:t> </a:t>
                </a:r>
                <a14:m>
                  <m:oMath xmlns:m="http://schemas.openxmlformats.org/officeDocument/2006/math">
                    <m:r>
                      <a:rPr lang="en-MY" b="0" i="1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MY" b="0" i="1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MY" b="0" i="1" smtClean="0">
                        <a:latin typeface="Cambria Math" panose="02040503050406030204" pitchFamily="18" charset="0"/>
                      </a:rPr>
                      <m:t>𝐻</m:t>
                    </m:r>
                  </m:oMath>
                </a14:m>
                <a:endParaRPr lang="en-MY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type m:val="lin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𝐺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:=</m:t>
                      </m:r>
                      <m:d>
                        <m:dPr>
                          <m:begChr m:val="{"/>
                          <m:endChr m:val="|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𝑔𝐻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𝐺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MY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𝑔𝐻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≔</m:t>
                      </m:r>
                      <m:d>
                        <m:dPr>
                          <m:begChr m:val="{"/>
                          <m:endChr m:val="|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𝑔h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𝐻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MY" dirty="0"/>
              </a:p>
              <a:p>
                <a:pPr marL="0" indent="0">
                  <a:buNone/>
                </a:pPr>
                <a:r>
                  <a:rPr lang="en-US" dirty="0"/>
                  <a:t>Fact: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𝐻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≃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𝐻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≃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𝐻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:endParaRPr lang="en-MY" dirty="0"/>
              </a:p>
              <a:p>
                <a:pPr marL="0" indent="0">
                  <a:buNone/>
                </a:pPr>
                <a:r>
                  <a:rPr lang="en-MY" dirty="0"/>
                  <a:t>Lagrange’s theorem</a:t>
                </a:r>
              </a:p>
              <a:p>
                <a:pPr marL="0" indent="0">
                  <a:buNone/>
                </a:pPr>
                <a:r>
                  <a:rPr lang="en-US" b="0" dirty="0"/>
                  <a:t>				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endChr m:val="|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⋅|</m:t>
                    </m:r>
                    <m:f>
                      <m:fPr>
                        <m:type m:val="lin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𝐺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lang="en-MY" dirty="0"/>
                  <a:t>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B1CD955-06FA-43DD-B2F9-BD189C548A9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217" t="-7143"/>
                </a:stretch>
              </a:blipFill>
            </p:spPr>
            <p:txBody>
              <a:bodyPr/>
              <a:lstStyle/>
              <a:p>
                <a:r>
                  <a:rPr lang="en-MY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981452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036CE9-6656-4A0C-83A8-99E3AA4A0D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Coset</a:t>
            </a:r>
            <a:r>
              <a:rPr lang="en-US" dirty="0"/>
              <a:t> space (example) </a:t>
            </a:r>
            <a:endParaRPr lang="en-MY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8022A18-6552-4EA9-B01C-9780E83327A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𝐺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ℤ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</m:oMath>
                </a14:m>
                <a:r>
                  <a:rPr lang="en-MY" dirty="0"/>
                  <a:t>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𝐻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=3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ℤ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</m:oMath>
                </a14:m>
                <a:endParaRPr lang="en-MY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8022A18-6552-4EA9-B01C-9780E83327A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t="-2241"/>
                </a:stretch>
              </a:blipFill>
            </p:spPr>
            <p:txBody>
              <a:bodyPr/>
              <a:lstStyle/>
              <a:p>
                <a:r>
                  <a:rPr lang="en-MY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732368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9D9147-77A9-46BA-B1C2-E00B2F5DDD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Consequence of Lagrange’s theorem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4AEEF165-6AA5-4396-85B6-998EE21F4FB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If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MY" dirty="0"/>
                  <a:t> is a finite group,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𝐻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MY" dirty="0"/>
                  <a:t> then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MY" dirty="0"/>
                  <a:t>divides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lang="en-MY" dirty="0"/>
                  <a:t>.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ℤ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</m:oMath>
                </a14:m>
                <a:r>
                  <a:rPr lang="en-US" dirty="0"/>
                  <a:t> is a simple group. 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4AEEF165-6AA5-4396-85B6-998EE21F4FB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241"/>
                </a:stretch>
              </a:blipFill>
            </p:spPr>
            <p:txBody>
              <a:bodyPr/>
              <a:lstStyle/>
              <a:p>
                <a:r>
                  <a:rPr lang="en-MY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773855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56F227-8A7D-4E5E-9ACF-773CB8AB1B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Group homomorphism </a:t>
            </a:r>
          </a:p>
        </p:txBody>
      </p:sp>
      <p:pic>
        <p:nvPicPr>
          <p:cNvPr id="2050" name="Picture 2" descr="计算机生成了可选文字:&#10;13JDefinition&#10;AmapOfagroupGintoagroupG'isahomomorphismifthehomomorphism&#10;property&#10;holdsforalla，beG.&#10;（1）">
            <a:extLst>
              <a:ext uri="{FF2B5EF4-FFF2-40B4-BE49-F238E27FC236}">
                <a16:creationId xmlns:a16="http://schemas.microsoft.com/office/drawing/2014/main" id="{D3FBD3F1-4CDC-437E-AC21-E75C04D49D05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0401" y="1596981"/>
            <a:ext cx="8483599" cy="1325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计算机生成了可选文字:&#10;AlexanderGrothendieck&#10;AlexanderGrothendieckinMontreal,1970&#10;Born&#10;Died&#10;28March1928&#10;Berlin,Prussia,Germany&#10;13November2014(aged86）&#10;Saint-Lizier,France">
            <a:extLst>
              <a:ext uri="{FF2B5EF4-FFF2-40B4-BE49-F238E27FC236}">
                <a16:creationId xmlns:a16="http://schemas.microsoft.com/office/drawing/2014/main" id="{6EBD368A-BFF6-4F61-A1FE-CC64952297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46663" y="3247836"/>
            <a:ext cx="2705531" cy="34215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00C4763C-07B0-4202-A8F8-B723E294EDE7}"/>
              </a:ext>
            </a:extLst>
          </p:cNvPr>
          <p:cNvSpPr/>
          <p:nvPr/>
        </p:nvSpPr>
        <p:spPr>
          <a:xfrm>
            <a:off x="660401" y="4958593"/>
            <a:ext cx="7755631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r>
              <a:rPr lang="en-US" altLang="zh-CN" sz="2400" dirty="0" err="1">
                <a:solidFill>
                  <a:srgbClr val="000000"/>
                </a:solidFill>
                <a:latin typeface="Segoe UI" panose="020B0502040204020203" pitchFamily="34" charset="0"/>
                <a:ea typeface="Calibri" panose="020F0502020204030204" pitchFamily="34" charset="0"/>
              </a:rPr>
              <a:t>Grothendieck</a:t>
            </a:r>
            <a:r>
              <a:rPr lang="en-US" sz="2400" dirty="0">
                <a:solidFill>
                  <a:srgbClr val="000000"/>
                </a:solidFill>
                <a:latin typeface="Calibri" panose="020F0502020204030204" pitchFamily="34" charset="0"/>
              </a:rPr>
              <a:t> </a:t>
            </a:r>
            <a:r>
              <a:rPr lang="en-US" altLang="zh-CN" sz="2400" dirty="0">
                <a:solidFill>
                  <a:srgbClr val="000000"/>
                </a:solidFill>
                <a:latin typeface="Segoe UI" panose="020B0502040204020203" pitchFamily="34" charset="0"/>
                <a:ea typeface="Calibri" panose="020F0502020204030204" pitchFamily="34" charset="0"/>
              </a:rPr>
              <a:t>pointed out that</a:t>
            </a:r>
            <a:r>
              <a:rPr lang="zh-CN" altLang="en-US" sz="2400" dirty="0">
                <a:solidFill>
                  <a:srgbClr val="000000"/>
                </a:solidFill>
                <a:latin typeface="Segoe UI" panose="020B0502040204020203" pitchFamily="34" charset="0"/>
                <a:ea typeface="Calibri" panose="020F0502020204030204" pitchFamily="34" charset="0"/>
              </a:rPr>
              <a:t> </a:t>
            </a:r>
            <a:endParaRPr lang="en-MY" altLang="zh-CN" sz="2400" dirty="0">
              <a:solidFill>
                <a:srgbClr val="000000"/>
              </a:solidFill>
              <a:latin typeface="Segoe UI" panose="020B0502040204020203" pitchFamily="34" charset="0"/>
              <a:ea typeface="Calibri" panose="020F0502020204030204" pitchFamily="34" charset="0"/>
            </a:endParaRPr>
          </a:p>
          <a:p>
            <a:pPr fontAlgn="base"/>
            <a:r>
              <a:rPr lang="en-US" altLang="zh-CN" sz="2400" dirty="0">
                <a:solidFill>
                  <a:srgbClr val="000000"/>
                </a:solidFill>
                <a:latin typeface="Segoe UI" panose="020B0502040204020203" pitchFamily="34" charset="0"/>
                <a:ea typeface="Calibri" panose="020F0502020204030204" pitchFamily="34" charset="0"/>
              </a:rPr>
              <a:t>rather than</a:t>
            </a:r>
            <a:r>
              <a:rPr lang="en-US" sz="2400" dirty="0">
                <a:solidFill>
                  <a:srgbClr val="000000"/>
                </a:solidFill>
                <a:latin typeface="Calibri" panose="020F0502020204030204" pitchFamily="34" charset="0"/>
              </a:rPr>
              <a:t> </a:t>
            </a:r>
            <a:r>
              <a:rPr lang="en-US" altLang="zh-CN" sz="2400" dirty="0">
                <a:solidFill>
                  <a:srgbClr val="000000"/>
                </a:solidFill>
                <a:latin typeface="Segoe UI" panose="020B0502040204020203" pitchFamily="34" charset="0"/>
                <a:ea typeface="Calibri" panose="020F0502020204030204" pitchFamily="34" charset="0"/>
              </a:rPr>
              <a:t>analyzing objects,</a:t>
            </a:r>
            <a:r>
              <a:rPr lang="zh-CN" altLang="en-US" sz="2400" dirty="0">
                <a:solidFill>
                  <a:srgbClr val="000000"/>
                </a:solidFill>
                <a:latin typeface="Segoe UI" panose="020B0502040204020203" pitchFamily="34" charset="0"/>
                <a:ea typeface="Calibri" panose="020F0502020204030204" pitchFamily="34" charset="0"/>
              </a:rPr>
              <a:t> </a:t>
            </a:r>
            <a:r>
              <a:rPr lang="zh-CN" altLang="en-US" sz="2400" dirty="0">
                <a:solidFill>
                  <a:srgbClr val="000000"/>
                </a:solidFill>
                <a:latin typeface="Segoe UI" panose="020B0502040204020203" pitchFamily="34" charset="0"/>
              </a:rPr>
              <a:t> </a:t>
            </a:r>
            <a:r>
              <a:rPr lang="en-US" altLang="zh-CN" sz="2400" dirty="0">
                <a:solidFill>
                  <a:srgbClr val="000000"/>
                </a:solidFill>
                <a:latin typeface="Segoe UI" panose="020B0502040204020203" pitchFamily="34" charset="0"/>
                <a:ea typeface="Calibri" panose="020F0502020204030204" pitchFamily="34" charset="0"/>
              </a:rPr>
              <a:t>we should</a:t>
            </a:r>
            <a:r>
              <a:rPr lang="en-US" sz="2400" dirty="0">
                <a:solidFill>
                  <a:srgbClr val="000000"/>
                </a:solidFill>
                <a:latin typeface="Calibri" panose="020F0502020204030204" pitchFamily="34" charset="0"/>
              </a:rPr>
              <a:t> </a:t>
            </a:r>
            <a:r>
              <a:rPr lang="en-US" altLang="zh-CN" sz="2400" dirty="0">
                <a:solidFill>
                  <a:srgbClr val="000000"/>
                </a:solidFill>
                <a:latin typeface="Segoe UI" panose="020B0502040204020203" pitchFamily="34" charset="0"/>
                <a:ea typeface="Calibri" panose="020F0502020204030204" pitchFamily="34" charset="0"/>
              </a:rPr>
              <a:t>concentrate on</a:t>
            </a:r>
            <a:r>
              <a:rPr lang="zh-CN" altLang="en-US" sz="2400" dirty="0">
                <a:solidFill>
                  <a:srgbClr val="000000"/>
                </a:solidFill>
                <a:latin typeface="Segoe UI" panose="020B0502040204020203" pitchFamily="34" charset="0"/>
                <a:ea typeface="Calibri" panose="020F0502020204030204" pitchFamily="34" charset="0"/>
              </a:rPr>
              <a:t> </a:t>
            </a:r>
            <a:r>
              <a:rPr lang="en-US" altLang="zh-CN" sz="2400" dirty="0">
                <a:solidFill>
                  <a:srgbClr val="2E75B5"/>
                </a:solidFill>
                <a:latin typeface="Segoe UI" panose="020B0502040204020203" pitchFamily="34" charset="0"/>
                <a:ea typeface="Calibri" panose="020F0502020204030204" pitchFamily="34" charset="0"/>
              </a:rPr>
              <a:t>morphisms</a:t>
            </a:r>
            <a:r>
              <a:rPr lang="en-US" sz="2400" dirty="0">
                <a:solidFill>
                  <a:srgbClr val="2E75B5"/>
                </a:solidFill>
                <a:latin typeface="Calibri" panose="020F0502020204030204" pitchFamily="34" charset="0"/>
              </a:rPr>
              <a:t> </a:t>
            </a:r>
            <a:r>
              <a:rPr lang="en-US" altLang="zh-CN" sz="2400" dirty="0">
                <a:solidFill>
                  <a:srgbClr val="000000"/>
                </a:solidFill>
                <a:latin typeface="Segoe UI" panose="020B0502040204020203" pitchFamily="34" charset="0"/>
                <a:ea typeface="Calibri" panose="020F0502020204030204" pitchFamily="34" charset="0"/>
              </a:rPr>
              <a:t>between them.</a:t>
            </a:r>
            <a:r>
              <a:rPr lang="zh-CN" altLang="en-US" sz="2400" dirty="0">
                <a:solidFill>
                  <a:srgbClr val="000000"/>
                </a:solidFill>
                <a:latin typeface="Segoe UI" panose="020B0502040204020203" pitchFamily="34" charset="0"/>
                <a:ea typeface="Calibri" panose="020F0502020204030204" pitchFamily="34" charset="0"/>
              </a:rPr>
              <a:t> </a:t>
            </a:r>
            <a:endParaRPr lang="zh-CN" sz="2400" b="0" i="0" dirty="0"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3F7BF82-9150-4E9C-BC35-2C7D107C054A}"/>
                  </a:ext>
                </a:extLst>
              </p:cNvPr>
              <p:cNvSpPr txBox="1"/>
              <p:nvPr/>
            </p:nvSpPr>
            <p:spPr>
              <a:xfrm>
                <a:off x="660401" y="3355759"/>
                <a:ext cx="7755631" cy="13849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 dirty="0"/>
                  <a:t>Corollary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𝜙</m:t>
                      </m:r>
                      <m:d>
                        <m:d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</m:sub>
                          </m:sSub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𝐺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2800" b="0" i="1" dirty="0">
                  <a:latin typeface="Cambria Math" panose="02040503050406030204" pitchFamily="18" charset="0"/>
                </a:endParaRPr>
              </a:p>
              <a:p>
                <a:r>
                  <a:rPr lang="en-US" sz="2800" dirty="0"/>
                  <a:t>						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𝜙</m:t>
                    </m:r>
                    <m:d>
                      <m:d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</m:e>
                    </m:d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𝜙</m:t>
                    </m:r>
                    <m:sSup>
                      <m:sSup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</m:d>
                      </m:e>
                      <m:sup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en-US" sz="2800" dirty="0"/>
                  <a:t> </a:t>
                </a:r>
                <a:endParaRPr lang="en-MY" sz="28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3F7BF82-9150-4E9C-BC35-2C7D107C05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0401" y="3355759"/>
                <a:ext cx="7755631" cy="1384995"/>
              </a:xfrm>
              <a:prstGeom prst="rect">
                <a:avLst/>
              </a:prstGeom>
              <a:blipFill>
                <a:blip r:embed="rId4"/>
                <a:stretch>
                  <a:fillRect l="-1571" t="-3947"/>
                </a:stretch>
              </a:blipFill>
            </p:spPr>
            <p:txBody>
              <a:bodyPr/>
              <a:lstStyle/>
              <a:p>
                <a:r>
                  <a:rPr lang="en-MY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122218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3520F0-5D55-4654-AC98-ABE4A126C4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Normal subgroups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0642BAB-25E2-4736-BC5A-799188A33FB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en-MY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MY" dirty="0"/>
                  <a:t> is a normal subgroup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MY" dirty="0"/>
                  <a:t> </a:t>
                </a:r>
                <a:r>
                  <a:rPr lang="en-MY" dirty="0" err="1"/>
                  <a:t>iff</a:t>
                </a:r>
                <a:r>
                  <a:rPr lang="en-MY" dirty="0"/>
                  <a:t> one of the following condition holds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∀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   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 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b="0" dirty="0"/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    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𝑔𝑁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endParaRPr lang="en-MY" dirty="0"/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    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𝑁𝑔</m:t>
                    </m:r>
                  </m:oMath>
                </a14:m>
                <a:endParaRPr lang="en-MY" dirty="0"/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    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𝑔𝑁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endParaRPr lang="en-MY" dirty="0"/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∃ </m:t>
                    </m:r>
                  </m:oMath>
                </a14:m>
                <a:r>
                  <a:rPr lang="en-MY" dirty="0"/>
                  <a:t>a homomorphism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𝜙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: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𝐻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MY" dirty="0"/>
                  <a:t>, such that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 </m:t>
                    </m:r>
                    <m:r>
                      <m:rPr>
                        <m:sty m:val="p"/>
                      </m:rPr>
                      <a:rPr lang="en-US" b="0" i="1" smtClean="0">
                        <a:latin typeface="Cambria Math" panose="02040503050406030204" pitchFamily="18" charset="0"/>
                      </a:rPr>
                      <m:t>Ker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𝜙</m:t>
                    </m:r>
                  </m:oMath>
                </a14:m>
                <a:endParaRPr lang="en-MY" dirty="0"/>
              </a:p>
              <a:p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Easy fact, kernel of a homomorphism is normal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0642BAB-25E2-4736-BC5A-799188A33FB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3081" b="-1261"/>
                </a:stretch>
              </a:blipFill>
            </p:spPr>
            <p:txBody>
              <a:bodyPr/>
              <a:lstStyle/>
              <a:p>
                <a:r>
                  <a:rPr lang="en-MY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19142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97CAD5-528C-408F-A78F-B171FC56EF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Examples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BB03273B-2764-45F3-BF52-935DF290D6B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1" smtClean="0">
                        <a:latin typeface="Cambria Math" panose="02040503050406030204" pitchFamily="18" charset="0"/>
                      </a:rPr>
                      <m:t>det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: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GL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ℂ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→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GL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ℂ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ℂ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×</m:t>
                        </m:r>
                      </m:sup>
                    </m:sSup>
                  </m:oMath>
                </a14:m>
                <a:endParaRPr lang="en-US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i="1" smtClean="0">
                          <a:latin typeface="Cambria Math" panose="02040503050406030204" pitchFamily="18" charset="0"/>
                        </a:rPr>
                        <m:t>K</m:t>
                      </m:r>
                      <m:r>
                        <m:rPr>
                          <m:sty m:val="p"/>
                        </m:rPr>
                        <a:rPr lang="en-US" b="0" i="1" smtClean="0">
                          <a:latin typeface="Cambria Math" panose="02040503050406030204" pitchFamily="18" charset="0"/>
                        </a:rPr>
                        <m:t>er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det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SL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ℂ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MY" dirty="0"/>
              </a:p>
              <a:p>
                <a:endParaRPr lang="en-US" dirty="0"/>
              </a:p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1" smtClean="0">
                        <a:latin typeface="Cambria Math" panose="02040503050406030204" pitchFamily="18" charset="0"/>
                      </a:rPr>
                      <m:t>sgn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: 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→</m:t>
                    </m:r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±1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n-US" dirty="0"/>
              </a:p>
              <a:p>
                <a:endParaRPr lang="en-US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1" smtClean="0">
                        <a:latin typeface="Cambria Math" panose="02040503050406030204" pitchFamily="18" charset="0"/>
                      </a:rPr>
                      <m:t>Ker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\</m:t>
                        </m:r>
                        <m:r>
                          <m:rPr>
                            <m:sty m:val="p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sgn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dirty="0"/>
                  <a:t> (the alternating group)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Theorem: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dirty="0"/>
                  <a:t> is simple if and only if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=3</m:t>
                    </m:r>
                  </m:oMath>
                </a14:m>
                <a:r>
                  <a:rPr lang="en-US" dirty="0"/>
                  <a:t> 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≥5. 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BB03273B-2764-45F3-BF52-935DF290D6B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1961"/>
                </a:stretch>
              </a:blipFill>
            </p:spPr>
            <p:txBody>
              <a:bodyPr/>
              <a:lstStyle/>
              <a:p>
                <a:r>
                  <a:rPr lang="en-MY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735189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430AC10-11FD-1E8D-2E07-B631EB9163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SG" dirty="0"/>
              <a:t>Simple group</a:t>
            </a:r>
            <a:endParaRPr lang="zh-SG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C8D5423C-16D9-260C-883F-282F442D644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altLang="zh-SG" dirty="0"/>
                  <a:t>A group </a:t>
                </a:r>
                <a14:m>
                  <m:oMath xmlns:m="http://schemas.openxmlformats.org/officeDocument/2006/math">
                    <m:r>
                      <a:rPr lang="en-US" altLang="zh-SG" b="0" i="1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zh-SG" altLang="en-US" dirty="0"/>
                  <a:t> </a:t>
                </a:r>
                <a:r>
                  <a:rPr lang="en-US" altLang="zh-SG" dirty="0"/>
                  <a:t>is called a simple group if the trivial subgroup and </a:t>
                </a:r>
                <a14:m>
                  <m:oMath xmlns:m="http://schemas.openxmlformats.org/officeDocument/2006/math">
                    <m:r>
                      <a:rPr lang="en-US" altLang="zh-SG" b="0" i="1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US" altLang="zh-SG" dirty="0"/>
                  <a:t> are the only normal subgroups of </a:t>
                </a:r>
                <a14:m>
                  <m:oMath xmlns:m="http://schemas.openxmlformats.org/officeDocument/2006/math">
                    <m:r>
                      <a:rPr lang="en-US" altLang="zh-SG" b="0" i="1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US" altLang="zh-SG" dirty="0"/>
                  <a:t>. </a:t>
                </a:r>
              </a:p>
              <a:p>
                <a:pPr marL="0" indent="0">
                  <a:buNone/>
                </a:pPr>
                <a:endParaRPr lang="en-US" altLang="zh-SG" dirty="0"/>
              </a:p>
              <a:p>
                <a:pPr marL="0" indent="0">
                  <a:buNone/>
                </a:pPr>
                <a:r>
                  <a:rPr lang="en-US" altLang="zh-SG" dirty="0"/>
                  <a:t>Question:</a:t>
                </a:r>
                <a:r>
                  <a:rPr lang="zh-SG" altLang="en-US" dirty="0"/>
                  <a:t> </a:t>
                </a:r>
                <a:r>
                  <a:rPr lang="en-US" altLang="zh-SG" dirty="0"/>
                  <a:t>Classify</a:t>
                </a:r>
                <a:r>
                  <a:rPr lang="zh-SG" altLang="en-US" dirty="0"/>
                  <a:t> </a:t>
                </a:r>
                <a:r>
                  <a:rPr lang="en-US" altLang="zh-SG" dirty="0"/>
                  <a:t>all</a:t>
                </a:r>
                <a:r>
                  <a:rPr lang="zh-SG" altLang="en-US" dirty="0"/>
                  <a:t> </a:t>
                </a:r>
                <a:r>
                  <a:rPr lang="en-US" altLang="zh-SG" dirty="0"/>
                  <a:t>finite</a:t>
                </a:r>
                <a:r>
                  <a:rPr lang="zh-SG" altLang="en-US" dirty="0"/>
                  <a:t> </a:t>
                </a:r>
                <a:r>
                  <a:rPr lang="en-US" altLang="zh-SG" dirty="0"/>
                  <a:t>abelian simple groups. </a:t>
                </a: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C8D5423C-16D9-260C-883F-282F442D644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241"/>
                </a:stretch>
              </a:blipFill>
            </p:spPr>
            <p:txBody>
              <a:bodyPr/>
              <a:lstStyle/>
              <a:p>
                <a:r>
                  <a:rPr lang="en-MY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127892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4BD2C2D9D35CB428BCE676D24844022" ma:contentTypeVersion="2" ma:contentTypeDescription="Create a new document." ma:contentTypeScope="" ma:versionID="9bdffc737e0bf813fff0fc94466fd8d0">
  <xsd:schema xmlns:xsd="http://www.w3.org/2001/XMLSchema" xmlns:xs="http://www.w3.org/2001/XMLSchema" xmlns:p="http://schemas.microsoft.com/office/2006/metadata/properties" xmlns:ns2="42b7931b-4942-4b57-b636-459d8273d5bb" targetNamespace="http://schemas.microsoft.com/office/2006/metadata/properties" ma:root="true" ma:fieldsID="8e2984c0d6903ec5c66eeacc72637864" ns2:_="">
    <xsd:import namespace="42b7931b-4942-4b57-b636-459d8273d5b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2b7931b-4942-4b57-b636-459d8273d5b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7B4FD6BE-638F-42B1-8D78-14611E8F20E1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42b7931b-4942-4b57-b636-459d8273d5bb"/>
    <ds:schemaRef ds:uri="http://schemas.microsoft.com/office/2006/metadata/properties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D02A8F1E-2A26-43B2-B3CF-F15D3482FB5D}">
  <ds:schemaRefs>
    <ds:schemaRef ds:uri="http://schemas.microsoft.com/office/2006/documentManagement/types"/>
    <ds:schemaRef ds:uri="http://schemas.openxmlformats.org/package/2006/metadata/core-properties"/>
    <ds:schemaRef ds:uri="http://purl.org/dc/elements/1.1/"/>
    <ds:schemaRef ds:uri="http://purl.org/dc/terms/"/>
    <ds:schemaRef ds:uri="42b7931b-4942-4b57-b636-459d8273d5bb"/>
    <ds:schemaRef ds:uri="http://schemas.microsoft.com/office/infopath/2007/PartnerControls"/>
    <ds:schemaRef ds:uri="http://schemas.microsoft.com/office/2006/metadata/properties"/>
    <ds:schemaRef ds:uri="http://www.w3.org/XML/1998/namespace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1058BB74-C7DF-4BF9-BDE4-2BC7DD643D0C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2628</TotalTime>
  <Words>349</Words>
  <Application>Microsoft Office PowerPoint</Application>
  <PresentationFormat>Widescreen</PresentationFormat>
  <Paragraphs>73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0" baseType="lpstr">
      <vt:lpstr>等线</vt:lpstr>
      <vt:lpstr>等线 Light</vt:lpstr>
      <vt:lpstr>Arial</vt:lpstr>
      <vt:lpstr>Calibri</vt:lpstr>
      <vt:lpstr>Calibri Light</vt:lpstr>
      <vt:lpstr>Cambria Math</vt:lpstr>
      <vt:lpstr>Segoe UI</vt:lpstr>
      <vt:lpstr>Office Theme</vt:lpstr>
      <vt:lpstr>MAT205: Abstract Algebra II </vt:lpstr>
      <vt:lpstr>PowerPoint Presentation</vt:lpstr>
      <vt:lpstr>Examples</vt:lpstr>
      <vt:lpstr>Non-Examples</vt:lpstr>
      <vt:lpstr>Subgroup</vt:lpstr>
      <vt:lpstr>Coset space: Suppose H&lt;G</vt:lpstr>
      <vt:lpstr>Coset space (example) </vt:lpstr>
      <vt:lpstr>Consequence of Lagrange’s theorem</vt:lpstr>
      <vt:lpstr>Group homomorphism </vt:lpstr>
      <vt:lpstr>Normal subgroups</vt:lpstr>
      <vt:lpstr>Examples</vt:lpstr>
      <vt:lpstr>Simple group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MAT211: Abstract Algebra</dc:title>
  <dc:creator>Ma Jiajun</dc:creator>
  <cp:lastModifiedBy>Ma Jiajun</cp:lastModifiedBy>
  <cp:revision>259</cp:revision>
  <dcterms:created xsi:type="dcterms:W3CDTF">2021-09-19T05:52:48Z</dcterms:created>
  <dcterms:modified xsi:type="dcterms:W3CDTF">2024-04-03T11:56:00Z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0x0101001594938C8331CC42A4FCEDC9F70D2D1C</vt:lpwstr>
  </property>
</Properties>
</file>